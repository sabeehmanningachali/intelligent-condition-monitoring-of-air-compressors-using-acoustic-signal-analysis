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chivo Black" panose="020B0604020202020204" charset="0"/>
      <p:regular r:id="rId17"/>
    </p:embeddedFont>
    <p:embeddedFont>
      <p:font typeface="Garet" panose="020B0604020202020204" charset="0"/>
      <p:regular r:id="rId18"/>
    </p:embeddedFont>
    <p:embeddedFont>
      <p:font typeface="Garet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itk.ac.in/idea/datasets/index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85470" y="5322233"/>
            <a:ext cx="9373830" cy="728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en-US" sz="2799" spc="-221">
                <a:solidFill>
                  <a:srgbClr val="60685E"/>
                </a:solidFill>
                <a:latin typeface="Archivo Black"/>
                <a:ea typeface="Archivo Black"/>
                <a:cs typeface="Archivo Black"/>
                <a:sym typeface="Archivo Black"/>
              </a:rPr>
              <a:t>Based on Verma et al., IEEE Transactions on Reliability, Vol. 65, No. 1, 2016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124968"/>
            <a:ext cx="4435985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80"/>
              </a:lnSpc>
              <a:spcBef>
                <a:spcPct val="0"/>
              </a:spcBef>
            </a:pPr>
            <a:r>
              <a:rPr lang="en-US" sz="3600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1497" y="7669798"/>
            <a:ext cx="3716826" cy="171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SABEEH MUHAMMED MC</a:t>
            </a:r>
          </a:p>
          <a:p>
            <a:pPr algn="l">
              <a:lnSpc>
                <a:spcPts val="2730"/>
              </a:lnSpc>
            </a:pPr>
            <a:r>
              <a:rPr lang="en-US" sz="21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ABHINAV GHOSH </a:t>
            </a:r>
          </a:p>
          <a:p>
            <a:pPr algn="l">
              <a:lnSpc>
                <a:spcPts val="2730"/>
              </a:lnSpc>
            </a:pPr>
            <a:r>
              <a:rPr lang="en-US" sz="21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AMAN AGRAWAL </a:t>
            </a:r>
          </a:p>
          <a:p>
            <a:pPr algn="l">
              <a:lnSpc>
                <a:spcPts val="2730"/>
              </a:lnSpc>
            </a:pPr>
            <a:r>
              <a:rPr lang="en-US" sz="21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HARSH VERMA </a:t>
            </a:r>
          </a:p>
          <a:p>
            <a:pPr marL="0" lvl="0" indent="0" algn="l">
              <a:lnSpc>
                <a:spcPts val="2730"/>
              </a:lnSpc>
              <a:spcBef>
                <a:spcPct val="0"/>
              </a:spcBef>
            </a:pPr>
            <a:r>
              <a:rPr lang="en-US" sz="21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KHUSHI  GODARA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93122" y="1066800"/>
            <a:ext cx="2590267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EE656 </a:t>
            </a:r>
          </a:p>
          <a:p>
            <a:pPr algn="l">
              <a:lnSpc>
                <a:spcPts val="2099"/>
              </a:lnSpc>
            </a:pPr>
            <a:r>
              <a:rPr lang="en-US" sz="20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COURSE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5132" y="3702983"/>
            <a:ext cx="16484168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IMPLEMENTATION </a:t>
            </a:r>
            <a:r>
              <a:rPr lang="en-US" sz="5000" u="none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OF INTELLIGENT CONDITION BASED MONITORING USING ACOUSTIC SIGNALS FOR AIRCOMPRESSORS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47504"/>
            <a:ext cx="2526686" cy="1962393"/>
          </a:xfrm>
          <a:custGeom>
            <a:avLst/>
            <a:gdLst/>
            <a:ahLst/>
            <a:cxnLst/>
            <a:rect l="l" t="t" r="r" b="b"/>
            <a:pathLst>
              <a:path w="2526686" h="1962393">
                <a:moveTo>
                  <a:pt x="0" y="0"/>
                </a:moveTo>
                <a:lnTo>
                  <a:pt x="2526686" y="0"/>
                </a:lnTo>
                <a:lnTo>
                  <a:pt x="2526686" y="1962392"/>
                </a:lnTo>
                <a:lnTo>
                  <a:pt x="0" y="1962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34289" y="556937"/>
            <a:ext cx="376877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IIT KANPUR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336495" y="1559650"/>
          <a:ext cx="5891416" cy="8335392"/>
        </p:xfrm>
        <a:graphic>
          <a:graphicData uri="http://schemas.openxmlformats.org/drawingml/2006/table">
            <a:tbl>
              <a:tblPr/>
              <a:tblGrid>
                <a:gridCol w="866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1526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Motivation &amp; Problem Statement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526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Objectives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526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526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Overall Pipeline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1526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Feature Extraction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1526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mRMR Feature Selection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1526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OAO SVM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1526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Experimental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4159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Discussion &amp;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4159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Conclusion &amp; Future 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D99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-583553" y="2949983"/>
            <a:ext cx="7071987" cy="5554724"/>
          </a:xfrm>
          <a:custGeom>
            <a:avLst/>
            <a:gdLst/>
            <a:ahLst/>
            <a:cxnLst/>
            <a:rect l="l" t="t" r="r" b="b"/>
            <a:pathLst>
              <a:path w="7071987" h="5554724">
                <a:moveTo>
                  <a:pt x="0" y="0"/>
                </a:moveTo>
                <a:lnTo>
                  <a:pt x="7071988" y="0"/>
                </a:lnTo>
                <a:lnTo>
                  <a:pt x="7071988" y="5554724"/>
                </a:lnTo>
                <a:lnTo>
                  <a:pt x="0" y="5554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58485" y="3316667"/>
            <a:ext cx="4208248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93122" y="1066800"/>
            <a:ext cx="2590267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EE656 </a:t>
            </a:r>
          </a:p>
          <a:p>
            <a:pPr algn="l">
              <a:lnSpc>
                <a:spcPts val="2099"/>
              </a:lnSpc>
            </a:pPr>
            <a:r>
              <a:rPr lang="en-US" sz="20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COURSE PROJECT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47504"/>
            <a:ext cx="2526686" cy="1962393"/>
          </a:xfrm>
          <a:custGeom>
            <a:avLst/>
            <a:gdLst/>
            <a:ahLst/>
            <a:cxnLst/>
            <a:rect l="l" t="t" r="r" b="b"/>
            <a:pathLst>
              <a:path w="2526686" h="1962393">
                <a:moveTo>
                  <a:pt x="0" y="0"/>
                </a:moveTo>
                <a:lnTo>
                  <a:pt x="2526686" y="0"/>
                </a:lnTo>
                <a:lnTo>
                  <a:pt x="2526686" y="1962392"/>
                </a:lnTo>
                <a:lnTo>
                  <a:pt x="0" y="1962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34289" y="556937"/>
            <a:ext cx="376877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IIT KANPUR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95223" y="1389849"/>
            <a:ext cx="11697554" cy="77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10"/>
              </a:lnSpc>
              <a:spcBef>
                <a:spcPct val="0"/>
              </a:spcBef>
            </a:pPr>
            <a:r>
              <a:rPr lang="en-US" sz="5810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Motivation &amp;Problem Statement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3021508"/>
            <a:ext cx="16230600" cy="6236792"/>
            <a:chOff x="0" y="0"/>
            <a:chExt cx="21640800" cy="8315723"/>
          </a:xfrm>
        </p:grpSpPr>
        <p:sp>
          <p:nvSpPr>
            <p:cNvPr id="5" name="TextBox 5"/>
            <p:cNvSpPr txBox="1"/>
            <p:nvPr/>
          </p:nvSpPr>
          <p:spPr>
            <a:xfrm>
              <a:off x="0" y="1838221"/>
              <a:ext cx="21640800" cy="64775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64739" lvl="1" indent="-332370" algn="l">
                <a:lnSpc>
                  <a:spcPts val="4310"/>
                </a:lnSpc>
                <a:buFont typeface="Arial"/>
                <a:buChar char="•"/>
              </a:pPr>
              <a:r>
                <a:rPr lang="en-US" sz="307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Reciprocating air compressors run continuously in manufacturing plants, power stations, and chemical industries</a:t>
              </a:r>
            </a:p>
            <a:p>
              <a:pPr marL="664739" lvl="1" indent="-332370" algn="l">
                <a:lnSpc>
                  <a:spcPts val="4310"/>
                </a:lnSpc>
                <a:buFont typeface="Arial"/>
                <a:buChar char="•"/>
              </a:pPr>
              <a:r>
                <a:rPr lang="en-US" sz="307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Critical components — bearings, valves, pistons, rider belts — undergo progressive wear</a:t>
              </a:r>
            </a:p>
            <a:p>
              <a:pPr marL="664739" lvl="1" indent="-332370" algn="l">
                <a:lnSpc>
                  <a:spcPts val="4310"/>
                </a:lnSpc>
                <a:buFont typeface="Arial"/>
                <a:buChar char="•"/>
              </a:pPr>
              <a:r>
                <a:rPr lang="en-US" sz="307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Undetected faults propagate into severe mechanical failures → costly downtime + safety hazards</a:t>
              </a:r>
            </a:p>
            <a:p>
              <a:pPr marL="664739" lvl="1" indent="-332370" algn="l">
                <a:lnSpc>
                  <a:spcPts val="4310"/>
                </a:lnSpc>
                <a:buFont typeface="Arial"/>
                <a:buChar char="•"/>
              </a:pPr>
              <a:r>
                <a:rPr lang="en-US" sz="307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Traditional approach: scheduled maintenance → expensive and often unnecessary</a:t>
              </a:r>
            </a:p>
            <a:p>
              <a:pPr algn="l">
                <a:lnSpc>
                  <a:spcPts val="4310"/>
                </a:lnSpc>
              </a:pPr>
              <a:endParaRPr lang="en-US" sz="307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01097" y="-66675"/>
              <a:ext cx="4782853" cy="6863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10"/>
                </a:lnSpc>
                <a:spcBef>
                  <a:spcPct val="0"/>
                </a:spcBef>
              </a:pPr>
              <a:r>
                <a:rPr lang="en-US" sz="3078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THE PROBLEM: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13403" y="1263041"/>
            <a:ext cx="12137478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Motivation &amp;Problem Statement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99705" y="3396731"/>
            <a:ext cx="13688591" cy="5434711"/>
            <a:chOff x="0" y="0"/>
            <a:chExt cx="18251454" cy="7246281"/>
          </a:xfrm>
        </p:grpSpPr>
        <p:sp>
          <p:nvSpPr>
            <p:cNvPr id="5" name="TextBox 5"/>
            <p:cNvSpPr txBox="1"/>
            <p:nvPr/>
          </p:nvSpPr>
          <p:spPr>
            <a:xfrm>
              <a:off x="0" y="1492716"/>
              <a:ext cx="18251454" cy="5753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64973" lvl="1" indent="-332486" algn="l">
                <a:lnSpc>
                  <a:spcPts val="4312"/>
                </a:lnSpc>
                <a:buFont typeface="Arial"/>
                <a:buChar char="•"/>
              </a:pPr>
              <a:r>
                <a:rPr lang="en-US" sz="308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Condition Based Monitoring (CBM): monitor the machine continuously, act only when a fault is detected</a:t>
              </a:r>
            </a:p>
            <a:p>
              <a:pPr marL="664973" lvl="1" indent="-332486" algn="l">
                <a:lnSpc>
                  <a:spcPts val="4312"/>
                </a:lnSpc>
                <a:buFont typeface="Arial"/>
                <a:buChar char="•"/>
              </a:pPr>
              <a:r>
                <a:rPr lang="en-US" sz="308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Use acoustic signals — non-invasive, sensitive to fault characteristics</a:t>
              </a:r>
            </a:p>
            <a:p>
              <a:pPr marL="664973" lvl="1" indent="-332486" algn="l">
                <a:lnSpc>
                  <a:spcPts val="4312"/>
                </a:lnSpc>
                <a:buFont typeface="Arial"/>
                <a:buChar char="•"/>
              </a:pPr>
              <a:r>
                <a:rPr lang="en-US" sz="308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Combine signal processing + machine learning for automatic, real-time fault identification</a:t>
              </a:r>
            </a:p>
            <a:p>
              <a:pPr marL="664973" lvl="1" indent="-332486" algn="l">
                <a:lnSpc>
                  <a:spcPts val="4312"/>
                </a:lnSpc>
                <a:buFont typeface="Arial"/>
                <a:buChar char="•"/>
              </a:pPr>
              <a:r>
                <a:rPr lang="en-US" sz="308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Result: earlier detection, lower cost, higher machine availability</a:t>
              </a:r>
            </a:p>
            <a:p>
              <a:pPr algn="l">
                <a:lnSpc>
                  <a:spcPts val="4312"/>
                </a:lnSpc>
              </a:pPr>
              <a:endParaRPr lang="en-US" sz="30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158666" cy="686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12"/>
                </a:lnSpc>
                <a:spcBef>
                  <a:spcPct val="0"/>
                </a:spcBef>
              </a:pPr>
              <a:r>
                <a:rPr lang="en-US" sz="308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THE SOLUTION: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3041" y="2282545"/>
            <a:ext cx="17674959" cy="3572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4"/>
              </a:lnSpc>
            </a:pPr>
            <a:r>
              <a:rPr lang="en-US" sz="29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Key distinction box (prominent):</a:t>
            </a:r>
          </a:p>
          <a:p>
            <a:pPr algn="l">
              <a:lnSpc>
                <a:spcPts val="4084"/>
              </a:lnSpc>
            </a:pPr>
            <a:endParaRPr lang="en-US" sz="291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29851" lvl="1" indent="-314925" algn="l">
              <a:lnSpc>
                <a:spcPts val="4084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original paper by Verma et al. conducted an exhaustive comparative study — 11 signal transforms, 629 features, 6 feature selection methods, 3 multiclass SVM strategies.</a:t>
            </a:r>
          </a:p>
          <a:p>
            <a:pPr marL="629851" lvl="1" indent="-314925" algn="l">
              <a:lnSpc>
                <a:spcPts val="4084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After that analysis, the authors recommended a specific final operational strategy.</a:t>
            </a:r>
          </a:p>
          <a:p>
            <a:pPr marL="629851" lvl="1" indent="-314925" algn="l">
              <a:lnSpc>
                <a:spcPts val="4084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implement exactly that recommended strategy — not the full comparative study.</a:t>
            </a:r>
          </a:p>
          <a:p>
            <a:pPr algn="l">
              <a:lnSpc>
                <a:spcPts val="4084"/>
              </a:lnSpc>
            </a:pPr>
            <a:endParaRPr lang="en-US" sz="291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613041" y="5854552"/>
            <a:ext cx="13572514" cy="2966159"/>
            <a:chOff x="0" y="0"/>
            <a:chExt cx="18096685" cy="3954878"/>
          </a:xfrm>
        </p:grpSpPr>
        <p:sp>
          <p:nvSpPr>
            <p:cNvPr id="5" name="TextBox 5"/>
            <p:cNvSpPr txBox="1"/>
            <p:nvPr/>
          </p:nvSpPr>
          <p:spPr>
            <a:xfrm>
              <a:off x="0" y="-57150"/>
              <a:ext cx="12071952" cy="651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36"/>
                </a:lnSpc>
                <a:spcBef>
                  <a:spcPct val="0"/>
                </a:spcBef>
              </a:pPr>
              <a:r>
                <a:rPr lang="en-US" sz="2954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WHAT WE CONSCIOUSLY SKIPPED: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1993" y="1221119"/>
              <a:ext cx="17414692" cy="2733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37884" lvl="1" indent="-318942" algn="l">
                <a:lnSpc>
                  <a:spcPts val="4136"/>
                </a:lnSpc>
                <a:buFont typeface="Arial"/>
                <a:buChar char="•"/>
              </a:pPr>
              <a:r>
                <a:rPr lang="en-US" sz="295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PRE-PROCESSING (DATASET PROVIDED PRE-PROCESSED)</a:t>
              </a:r>
            </a:p>
            <a:p>
              <a:pPr marL="637884" lvl="1" indent="-318942" algn="l">
                <a:lnSpc>
                  <a:spcPts val="4136"/>
                </a:lnSpc>
                <a:buFont typeface="Arial"/>
                <a:buChar char="•"/>
              </a:pPr>
              <a:r>
                <a:rPr lang="en-US" sz="295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COMPARATIVE ANALYSIS OF REMAINING 6 TRANSFORMS</a:t>
              </a:r>
            </a:p>
            <a:p>
              <a:pPr marL="637884" lvl="1" indent="-318942" algn="l">
                <a:lnSpc>
                  <a:spcPts val="4136"/>
                </a:lnSpc>
                <a:buFont typeface="Arial"/>
                <a:buChar char="•"/>
              </a:pPr>
              <a:r>
                <a:rPr lang="en-US" sz="295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OAA AND DDAG MULTICLASS STRATEGIES</a:t>
              </a:r>
            </a:p>
            <a:p>
              <a:pPr marL="637884" lvl="1" indent="-318942" algn="l">
                <a:lnSpc>
                  <a:spcPts val="4136"/>
                </a:lnSpc>
                <a:buFont typeface="Arial"/>
                <a:buChar char="•"/>
              </a:pPr>
              <a:r>
                <a:rPr lang="en-US" sz="295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ALTERNATIVE FEATURE SELECTION METHODS (PCA, MIFS, BD ETC.)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47775" y="2501899"/>
            <a:ext cx="14201575" cy="5586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3"/>
              </a:lnSpc>
            </a:pPr>
            <a:endParaRPr/>
          </a:p>
          <a:p>
            <a:pPr algn="l">
              <a:lnSpc>
                <a:spcPts val="4463"/>
              </a:lnSpc>
            </a:pPr>
            <a:endParaRPr/>
          </a:p>
          <a:p>
            <a:pPr marL="688281" lvl="1" indent="-344141" algn="l">
              <a:lnSpc>
                <a:spcPts val="4463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Extract multi-domain features using the 5 transforms recommended by the paper: FFT, DCT, STFT, WVD, WPT</a:t>
            </a:r>
          </a:p>
          <a:p>
            <a:pPr marL="688281" lvl="1" indent="-344141" algn="l">
              <a:lnSpc>
                <a:spcPts val="4463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Apply mRMR feature selection to reduce 414 features to 25</a:t>
            </a:r>
          </a:p>
          <a:p>
            <a:pPr marL="688281" lvl="1" indent="-344141" algn="l">
              <a:lnSpc>
                <a:spcPts val="4463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Train an OAO SVM with RBF kernel using grid search optimized hyperparameters</a:t>
            </a:r>
          </a:p>
          <a:p>
            <a:pPr marL="688281" lvl="1" indent="-344141" algn="l">
              <a:lnSpc>
                <a:spcPts val="4463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Validate using stratified 5-fold cross-validation</a:t>
            </a:r>
          </a:p>
          <a:p>
            <a:pPr marL="688281" lvl="1" indent="-344141" algn="l">
              <a:lnSpc>
                <a:spcPts val="4463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Match the paper's reported accuracy of ~99.50%</a:t>
            </a:r>
          </a:p>
          <a:p>
            <a:pPr algn="l">
              <a:lnSpc>
                <a:spcPts val="4463"/>
              </a:lnSpc>
            </a:pPr>
            <a:endParaRPr lang="en-US" sz="318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974578" y="1209675"/>
            <a:ext cx="7102011" cy="1339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999"/>
              </a:lnSpc>
              <a:spcBef>
                <a:spcPct val="0"/>
              </a:spcBef>
            </a:pPr>
            <a:r>
              <a:rPr lang="en-US" sz="9999" spc="-78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85875"/>
            <a:ext cx="6118024" cy="71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91"/>
              </a:lnSpc>
              <a:spcBef>
                <a:spcPct val="0"/>
              </a:spcBef>
            </a:pPr>
            <a:r>
              <a:rPr lang="en-US" sz="6399" spc="-50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23" y="5713523"/>
            <a:ext cx="7788769" cy="191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EACH RECORDING: 50,000 </a:t>
            </a:r>
            <a:r>
              <a:rPr lang="en-US" sz="1599" b="1" u="none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SAMPLES @ 50 KHZ = 1 SEC DURATION</a:t>
            </a:r>
          </a:p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 b="1" u="none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FORMAT: .DAT FILES, 24-BIT PCM</a:t>
            </a:r>
          </a:p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 b="1" u="none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DATASET PROVIDED PRE-PROCESSED (FILTERING, CLIPPING, SMOOTHING, NORMALIZATION ALREADY APPLIED)</a:t>
            </a:r>
          </a:p>
          <a:p>
            <a:pPr marL="345439" lvl="1" indent="-172720" algn="l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 b="1" u="none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SENSOR: POSITION 8 OF 24 — IDENTIFIED AS MOST SENSITIVE VIA SENSITIVE POSITION ANALYSIS IN ORIGINAL PAPER</a:t>
            </a: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endParaRPr lang="en-US" sz="1599" b="1" u="none">
              <a:solidFill>
                <a:srgbClr val="60685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937794" y="1998726"/>
            <a:ext cx="7321506" cy="6137610"/>
            <a:chOff x="0" y="0"/>
            <a:chExt cx="9762008" cy="8183479"/>
          </a:xfrm>
        </p:grpSpPr>
        <p:sp>
          <p:nvSpPr>
            <p:cNvPr id="6" name="AutoShape 6"/>
            <p:cNvSpPr/>
            <p:nvPr/>
          </p:nvSpPr>
          <p:spPr>
            <a:xfrm>
              <a:off x="0" y="673547"/>
              <a:ext cx="948044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LABEL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94729" y="-38100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CLASS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69954" y="-38100"/>
              <a:ext cx="4384817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PHYSICAL DESCRIPTION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02147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94729" y="902147"/>
              <a:ext cx="1717035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BEARING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69954" y="902147"/>
              <a:ext cx="5410496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CRACKS DEVELOPED IN BEARINGS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0" y="1609113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837713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94729" y="1837713"/>
              <a:ext cx="2018705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FLYWHEEL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69954" y="1837713"/>
              <a:ext cx="5068603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WEAR ON FLYWHEEL SURFACE</a:t>
              </a: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0" y="2544680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2773280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94729" y="2773280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CLASS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69954" y="2773280"/>
              <a:ext cx="5410496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NORMAL OPERATION - NO FAULT</a:t>
              </a: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0" y="3480246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3708846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94729" y="3708846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LIV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69954" y="3641325"/>
              <a:ext cx="5692054" cy="641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00"/>
                </a:lnSpc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LEAKAGE INLET VALVE - AIR LEAKS DURING COMPRESSION</a:t>
              </a: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0" y="4415813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4644413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94729" y="4644413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LOV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69954" y="4597592"/>
              <a:ext cx="4384817" cy="610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782"/>
                </a:lnSpc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LEAKAGE OUTLET VALVE -DAMAGED OUTLET VALVE</a:t>
              </a:r>
            </a:p>
          </p:txBody>
        </p:sp>
        <p:sp>
          <p:nvSpPr>
            <p:cNvPr id="29" name="AutoShape 29"/>
            <p:cNvSpPr/>
            <p:nvPr/>
          </p:nvSpPr>
          <p:spPr>
            <a:xfrm>
              <a:off x="0" y="5351380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5579980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94729" y="5579980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NEV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69954" y="5519655"/>
              <a:ext cx="5209382" cy="641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00"/>
                </a:lnSpc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NON-RETURN VALVE - AIR LEAKS FROM TANK, EXTRA LOAD</a:t>
              </a:r>
            </a:p>
          </p:txBody>
        </p:sp>
        <p:sp>
          <p:nvSpPr>
            <p:cNvPr id="33" name="AutoShape 33"/>
            <p:cNvSpPr/>
            <p:nvPr/>
          </p:nvSpPr>
          <p:spPr>
            <a:xfrm>
              <a:off x="0" y="6286946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6515546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94729" y="6515546"/>
              <a:ext cx="1495810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PISTON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69954" y="6455221"/>
              <a:ext cx="5068603" cy="641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00"/>
                </a:lnSpc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LOOSE PISTON RING CAUSES AIR LEAKAGE</a:t>
              </a:r>
            </a:p>
          </p:txBody>
        </p:sp>
        <p:sp>
          <p:nvSpPr>
            <p:cNvPr id="37" name="AutoShape 37"/>
            <p:cNvSpPr/>
            <p:nvPr/>
          </p:nvSpPr>
          <p:spPr>
            <a:xfrm>
              <a:off x="0" y="7222513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7451113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94729" y="7451113"/>
              <a:ext cx="2018705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RIDERBELT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69954" y="7451113"/>
              <a:ext cx="5068603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BELT MISALIGNED WITH PULLEY</a:t>
              </a:r>
            </a:p>
          </p:txBody>
        </p:sp>
        <p:sp>
          <p:nvSpPr>
            <p:cNvPr id="41" name="AutoShape 41"/>
            <p:cNvSpPr/>
            <p:nvPr/>
          </p:nvSpPr>
          <p:spPr>
            <a:xfrm>
              <a:off x="0" y="8158079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2" name="AutoShape 42"/>
          <p:cNvSpPr/>
          <p:nvPr/>
        </p:nvSpPr>
        <p:spPr>
          <a:xfrm>
            <a:off x="1028700" y="3330685"/>
            <a:ext cx="395365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TextBox 43"/>
          <p:cNvSpPr txBox="1"/>
          <p:nvPr/>
        </p:nvSpPr>
        <p:spPr>
          <a:xfrm>
            <a:off x="1028723" y="2879500"/>
            <a:ext cx="257953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DESCRIPTION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28700" y="3376966"/>
            <a:ext cx="241247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8 MACHINE STATE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28700" y="3760898"/>
            <a:ext cx="383698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225 RECORDINGS PER STATE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8700" y="4148248"/>
            <a:ext cx="34551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1800 TOTAL RECORDINGS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28700" y="4535598"/>
            <a:ext cx="324771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50 KHZ SAMPLING RATE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12255" y="1979676"/>
            <a:ext cx="6577325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 u="sng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  <a:hlinkClick r:id="rId3" tooltip="https://www.iitk.ac.in/idea/datasets/index.html"/>
              </a:rPr>
              <a:t>LINK </a:t>
            </a:r>
            <a:r>
              <a:rPr lang="en-US" sz="1600">
                <a:solidFill>
                  <a:srgbClr val="60685E"/>
                </a:solidFill>
                <a:latin typeface="Garet"/>
                <a:ea typeface="Garet"/>
                <a:cs typeface="Garet"/>
                <a:sym typeface="Garet"/>
              </a:rPr>
              <a:t>- HTTPS://WWW.IITK.AC.IN/IDEA/DATASETS/INDEX.HTML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7619391" y="9565950"/>
            <a:ext cx="27570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0" y="2921009"/>
            <a:ext cx="18288000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1123950"/>
            <a:ext cx="7279037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Overall Pipeline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619391" y="9565950"/>
            <a:ext cx="27570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</a:t>
            </a:r>
          </a:p>
        </p:txBody>
      </p:sp>
      <p:grpSp>
        <p:nvGrpSpPr>
          <p:cNvPr id="6" name="Group 6"/>
          <p:cNvGrpSpPr/>
          <p:nvPr/>
        </p:nvGrpSpPr>
        <p:grpSpPr>
          <a:xfrm rot="5400000">
            <a:off x="13532827" y="2784394"/>
            <a:ext cx="356849" cy="273229"/>
            <a:chOff x="0" y="0"/>
            <a:chExt cx="812800" cy="6223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622338"/>
            </a:xfrm>
            <a:custGeom>
              <a:avLst/>
              <a:gdLst/>
              <a:ahLst/>
              <a:cxnLst/>
              <a:rect l="l" t="t" r="r" b="b"/>
              <a:pathLst>
                <a:path w="812800" h="622338">
                  <a:moveTo>
                    <a:pt x="406400" y="0"/>
                  </a:moveTo>
                  <a:lnTo>
                    <a:pt x="812800" y="622338"/>
                  </a:lnTo>
                  <a:lnTo>
                    <a:pt x="0" y="62233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50843"/>
              <a:ext cx="558800" cy="327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574637" y="3230167"/>
            <a:ext cx="33346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[STEP 2]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74637" y="3607992"/>
            <a:ext cx="2976437" cy="200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6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MRMR FEATURE SELECTION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74637" y="3804986"/>
            <a:ext cx="3684663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414 FEATURES → TOP 25 FEATURES</a:t>
            </a:r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6903610" y="2784394"/>
            <a:ext cx="356849" cy="273229"/>
            <a:chOff x="0" y="0"/>
            <a:chExt cx="812800" cy="6223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622338"/>
            </a:xfrm>
            <a:custGeom>
              <a:avLst/>
              <a:gdLst/>
              <a:ahLst/>
              <a:cxnLst/>
              <a:rect l="l" t="t" r="r" b="b"/>
              <a:pathLst>
                <a:path w="812800" h="622338">
                  <a:moveTo>
                    <a:pt x="406400" y="0"/>
                  </a:moveTo>
                  <a:lnTo>
                    <a:pt x="812800" y="622338"/>
                  </a:lnTo>
                  <a:lnTo>
                    <a:pt x="0" y="62233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50843"/>
              <a:ext cx="558800" cy="327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945420" y="3230167"/>
            <a:ext cx="33346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[STEP 1]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45420" y="3607992"/>
            <a:ext cx="2624165" cy="40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6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MULTI-DOMAIN FEATURE EXTRACTION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45420" y="3963736"/>
            <a:ext cx="1667319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FFT · DCT · STFT · WVD · WPT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7535" y="3963736"/>
            <a:ext cx="2125046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414-DIMENSIONAL FEATURE VECTOR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16579" y="4021521"/>
            <a:ext cx="344617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→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5347083"/>
            <a:ext cx="18288000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 rot="5400000">
            <a:off x="3755653" y="5210468"/>
            <a:ext cx="356849" cy="273229"/>
            <a:chOff x="0" y="0"/>
            <a:chExt cx="812800" cy="62233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622338"/>
            </a:xfrm>
            <a:custGeom>
              <a:avLst/>
              <a:gdLst/>
              <a:ahLst/>
              <a:cxnLst/>
              <a:rect l="l" t="t" r="r" b="b"/>
              <a:pathLst>
                <a:path w="812800" h="622338">
                  <a:moveTo>
                    <a:pt x="406400" y="0"/>
                  </a:moveTo>
                  <a:lnTo>
                    <a:pt x="812800" y="622338"/>
                  </a:lnTo>
                  <a:lnTo>
                    <a:pt x="0" y="62233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27000" y="250843"/>
              <a:ext cx="558800" cy="327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797462" y="5656242"/>
            <a:ext cx="33346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[STEP 3]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97462" y="6034066"/>
            <a:ext cx="2624165" cy="40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6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HYPERPARAMETER OPTIMIZATION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97462" y="6415575"/>
            <a:ext cx="2832632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GRID SEARCH OVER C × Γ</a:t>
            </a:r>
          </a:p>
        </p:txBody>
      </p:sp>
      <p:grpSp>
        <p:nvGrpSpPr>
          <p:cNvPr id="27" name="Group 27"/>
          <p:cNvGrpSpPr/>
          <p:nvPr/>
        </p:nvGrpSpPr>
        <p:grpSpPr>
          <a:xfrm rot="5400000">
            <a:off x="11516853" y="5210468"/>
            <a:ext cx="356849" cy="273229"/>
            <a:chOff x="0" y="0"/>
            <a:chExt cx="812800" cy="6223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622338"/>
            </a:xfrm>
            <a:custGeom>
              <a:avLst/>
              <a:gdLst/>
              <a:ahLst/>
              <a:cxnLst/>
              <a:rect l="l" t="t" r="r" b="b"/>
              <a:pathLst>
                <a:path w="812800" h="622338">
                  <a:moveTo>
                    <a:pt x="406400" y="0"/>
                  </a:moveTo>
                  <a:lnTo>
                    <a:pt x="812800" y="622338"/>
                  </a:lnTo>
                  <a:lnTo>
                    <a:pt x="0" y="62233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27000" y="250843"/>
              <a:ext cx="558800" cy="327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558663" y="5656242"/>
            <a:ext cx="33346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[STEP 4]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558663" y="6034066"/>
            <a:ext cx="2371030" cy="40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6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OAO SVM + 5-FOLD CROSS VALIDATION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58663" y="6415575"/>
            <a:ext cx="4205340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→ FAULT CLASSIFICATION (8 CLASSES)</a:t>
            </a:r>
          </a:p>
        </p:txBody>
      </p:sp>
      <p:grpSp>
        <p:nvGrpSpPr>
          <p:cNvPr id="33" name="Group 33"/>
          <p:cNvGrpSpPr/>
          <p:nvPr/>
        </p:nvGrpSpPr>
        <p:grpSpPr>
          <a:xfrm rot="5400000">
            <a:off x="986890" y="2784394"/>
            <a:ext cx="356849" cy="273229"/>
            <a:chOff x="0" y="0"/>
            <a:chExt cx="812800" cy="62233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622338"/>
            </a:xfrm>
            <a:custGeom>
              <a:avLst/>
              <a:gdLst/>
              <a:ahLst/>
              <a:cxnLst/>
              <a:rect l="l" t="t" r="r" b="b"/>
              <a:pathLst>
                <a:path w="812800" h="622338">
                  <a:moveTo>
                    <a:pt x="406400" y="0"/>
                  </a:moveTo>
                  <a:lnTo>
                    <a:pt x="812800" y="622338"/>
                  </a:lnTo>
                  <a:lnTo>
                    <a:pt x="0" y="62233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127000" y="250843"/>
              <a:ext cx="558800" cy="327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28700" y="3230167"/>
            <a:ext cx="3334638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PREPROCESSED ACOUSTIC SIGNAL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8700" y="7447195"/>
            <a:ext cx="696602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STEPS 1-4 = OUR COMPLETE IMPLEMENTATION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8700" y="7825020"/>
            <a:ext cx="866156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PRE-PROCESSING WAS PROVIDED - DATASET ALREADY CLEAN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8700" y="8202845"/>
            <a:ext cx="866156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EACH STEP'S OUTPUT FEEDS DIRECTLY INTO THE NEXT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8700" y="8580670"/>
            <a:ext cx="1080368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FINAL OUTPUT: TRAINED MODEL FILES SAVED FOR TEST PHASE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23950"/>
            <a:ext cx="3775286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Feature Extraction</a:t>
            </a:r>
          </a:p>
        </p:txBody>
      </p:sp>
      <p:sp>
        <p:nvSpPr>
          <p:cNvPr id="4" name="AutoShape 4"/>
          <p:cNvSpPr/>
          <p:nvPr/>
        </p:nvSpPr>
        <p:spPr>
          <a:xfrm>
            <a:off x="6238110" y="2494753"/>
            <a:ext cx="1102119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8177697" y="1941969"/>
            <a:ext cx="1518355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FULL</a:t>
            </a:r>
          </a:p>
          <a:p>
            <a:pPr marL="0" lvl="0" indent="0" algn="l">
              <a:lnSpc>
                <a:spcPts val="1800"/>
              </a:lnSpc>
            </a:pPr>
            <a:r>
              <a:rPr lang="en-US" sz="18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NAME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97710" y="1992451"/>
            <a:ext cx="10518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CLASS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24084" y="1992451"/>
            <a:ext cx="392848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PHYSICAL DESCRIPTION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77697" y="2747165"/>
            <a:ext cx="1425816" cy="59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99"/>
              </a:lnSpc>
            </a:pPr>
            <a:r>
              <a:rPr lang="en-US" sz="15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FAST FOURIER TRANSFORM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97710" y="2847495"/>
            <a:ext cx="61911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24084" y="2747165"/>
            <a:ext cx="5023432" cy="59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5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GLOBAL FREQUENCY ENERGY -</a:t>
            </a:r>
          </a:p>
          <a:p>
            <a:pPr marL="0" lvl="0" indent="0" algn="l">
              <a:lnSpc>
                <a:spcPts val="1599"/>
              </a:lnSpc>
            </a:pPr>
            <a:r>
              <a:rPr lang="en-US" sz="15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SPECTRUM DIVIDED INTO 8 EQUAL BINS, NORMALIZED ENERGY PER BIN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38110" y="3535517"/>
            <a:ext cx="11021190" cy="0"/>
          </a:xfrm>
          <a:prstGeom prst="line">
            <a:avLst/>
          </a:prstGeom>
          <a:ln w="47625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8162947" y="3791924"/>
            <a:ext cx="1455316" cy="59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99"/>
              </a:lnSpc>
            </a:pPr>
            <a:r>
              <a:rPr lang="en-US" sz="15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DISCRETE COSINE TRANSFORM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97710" y="3892254"/>
            <a:ext cx="61911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24084" y="3749830"/>
            <a:ext cx="5521375" cy="60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ENERGY-COMPACTED FREQUENCY REPRESENTATION - REAL VALUED, </a:t>
            </a:r>
          </a:p>
          <a:p>
            <a:pPr marL="0" lvl="0" indent="0" algn="l">
              <a:lnSpc>
                <a:spcPts val="160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CONCENTRATES ENERGY IN FEWER COEFFICIENTS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38110" y="4599327"/>
            <a:ext cx="11021190" cy="0"/>
          </a:xfrm>
          <a:prstGeom prst="line">
            <a:avLst/>
          </a:prstGeom>
          <a:ln w="47625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6238110" y="1992451"/>
            <a:ext cx="151835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TRANSFROM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38110" y="2833525"/>
            <a:ext cx="10518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FFT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38110" y="3892254"/>
            <a:ext cx="10518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DCT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2564920"/>
            <a:ext cx="462611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MULTI-DOMAIN FEATURE EXTRACTION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619391" y="9565950"/>
            <a:ext cx="27570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62947" y="4893833"/>
            <a:ext cx="1455316" cy="59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99"/>
              </a:lnSpc>
            </a:pPr>
            <a:r>
              <a:rPr lang="en-US" sz="15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SHORT TIME FOURIER TRANSFORM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97710" y="4994163"/>
            <a:ext cx="61911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72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24084" y="4851739"/>
            <a:ext cx="5521375" cy="60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TIME-VARYING FREQUENCY CONTENT -</a:t>
            </a:r>
          </a:p>
          <a:p>
            <a:pPr algn="l">
              <a:lnSpc>
                <a:spcPts val="160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HOW SPECTRAL CHARACTERISTICS </a:t>
            </a:r>
          </a:p>
          <a:p>
            <a:pPr marL="0" lvl="0" indent="0" algn="l">
              <a:lnSpc>
                <a:spcPts val="160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CHANGE OVER TIME USING HANN WINDOW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238110" y="5701236"/>
            <a:ext cx="11021190" cy="0"/>
          </a:xfrm>
          <a:prstGeom prst="line">
            <a:avLst/>
          </a:prstGeom>
          <a:ln w="47625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6238110" y="4994163"/>
            <a:ext cx="10518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STFT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62947" y="6124330"/>
            <a:ext cx="1660234" cy="39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99"/>
              </a:lnSpc>
            </a:pPr>
            <a:r>
              <a:rPr lang="en-US" sz="15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WIGNER-VILLE DISTRIBUTION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97710" y="6124648"/>
            <a:ext cx="61911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72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824084" y="5982223"/>
            <a:ext cx="5677981" cy="60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HIGHEST-RESOLUTION TIME-FREQUENCY PICTURE</a:t>
            </a:r>
          </a:p>
          <a:p>
            <a:pPr marL="0" lvl="0" indent="0" algn="l">
              <a:lnSpc>
                <a:spcPts val="160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NO WINDOW SIZE TRADE-OFF, O(N²) COMPLEXITY. RESAMPLED TO 8192 POINTS FOR  FEASIBILITY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238110" y="6831720"/>
            <a:ext cx="11021190" cy="0"/>
          </a:xfrm>
          <a:prstGeom prst="line">
            <a:avLst/>
          </a:prstGeom>
          <a:ln w="47625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30"/>
          <p:cNvSpPr txBox="1"/>
          <p:nvPr/>
        </p:nvSpPr>
        <p:spPr>
          <a:xfrm>
            <a:off x="6238110" y="6096523"/>
            <a:ext cx="10518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WVD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62947" y="7126227"/>
            <a:ext cx="1455316" cy="59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99"/>
              </a:lnSpc>
            </a:pPr>
            <a:r>
              <a:rPr lang="en-US" sz="15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WAVELET PACKET TRANSFORM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97710" y="7226557"/>
            <a:ext cx="61911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254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824084" y="7084133"/>
            <a:ext cx="5521375" cy="60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0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MULTI-RESOLUTION SUB-BAND ENERGY — DB4 WAVELET, 7 LEVELS, 254 NODES. DECOMPOSES BOTH LOW AND HIGH FREQUENCIES UNLIKE DWT</a:t>
            </a:r>
          </a:p>
        </p:txBody>
      </p:sp>
      <p:sp>
        <p:nvSpPr>
          <p:cNvPr id="34" name="AutoShape 34"/>
          <p:cNvSpPr/>
          <p:nvPr/>
        </p:nvSpPr>
        <p:spPr>
          <a:xfrm>
            <a:off x="6238110" y="7933629"/>
            <a:ext cx="11021190" cy="0"/>
          </a:xfrm>
          <a:prstGeom prst="line">
            <a:avLst/>
          </a:prstGeom>
          <a:ln w="47625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TextBox 35"/>
          <p:cNvSpPr txBox="1"/>
          <p:nvPr/>
        </p:nvSpPr>
        <p:spPr>
          <a:xfrm>
            <a:off x="6238110" y="7227008"/>
            <a:ext cx="10518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WPT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6633" y="8948730"/>
            <a:ext cx="10280497" cy="66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A SINGLE TRANSFORM CANNOT CAPTURE ALL FAULT SIGNATURES. DIFFERENT FAULTS MANIFEST AT DIFFERENT FREQUENCIES AND TIME INSTANTS. FIVE COMPLEMENTARY TRANSFORMS TOGETHER PROVIDE A COMPLETE DIAGNOSTIC PICTURE.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8700" y="8569659"/>
            <a:ext cx="3637731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WHY 5 TRANSFORMS?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8700" y="6513134"/>
            <a:ext cx="4092869" cy="1541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 WVD REQUIRED DOWNSAMPLING TO 8192 POINTS (FROM 50,000) DUE TO O(N²) COMPLEXITY - THIS PRESERVED THE 1-SECOND OBSERVATION WINDOW WITHOUT AFFECTING DIAGNOSTIC PERFORMANCE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5179" y="5966850"/>
            <a:ext cx="4733160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WHY WVD WAS DOWNSAMPLED?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8700" y="3679980"/>
            <a:ext cx="4092869" cy="1322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 FFT (8)</a:t>
            </a:r>
          </a:p>
          <a:p>
            <a:pPr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+ DCT (8)</a:t>
            </a:r>
          </a:p>
          <a:p>
            <a:pPr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+ STFT (72)</a:t>
            </a:r>
          </a:p>
          <a:p>
            <a:pPr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+ WVD (72)</a:t>
            </a:r>
          </a:p>
          <a:p>
            <a:pPr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+ WPT (254)</a:t>
            </a:r>
          </a:p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= 414 FEATURES PER RECORDING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28700" y="3311680"/>
            <a:ext cx="3637731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BOTTOM TOTAL BAR: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8700" y="5204666"/>
            <a:ext cx="4247928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OUTPUT:</a:t>
            </a:r>
          </a:p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 FEATURES.CSV - 1800 × 417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2364" y="567927"/>
            <a:ext cx="11135275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60685E"/>
                </a:solidFill>
                <a:latin typeface="Archivo Black"/>
                <a:ea typeface="Archivo Black"/>
                <a:cs typeface="Archivo Black"/>
                <a:sym typeface="Archivo Black"/>
              </a:rPr>
              <a:t>mRMR</a:t>
            </a:r>
            <a:r>
              <a:rPr lang="en-US" sz="64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Feature Selection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8442824" y="2922483"/>
            <a:ext cx="9201244" cy="5750777"/>
          </a:xfrm>
          <a:custGeom>
            <a:avLst/>
            <a:gdLst/>
            <a:ahLst/>
            <a:cxnLst/>
            <a:rect l="l" t="t" r="r" b="b"/>
            <a:pathLst>
              <a:path w="9201244" h="5750777">
                <a:moveTo>
                  <a:pt x="0" y="0"/>
                </a:moveTo>
                <a:lnTo>
                  <a:pt x="9201244" y="0"/>
                </a:lnTo>
                <a:lnTo>
                  <a:pt x="9201244" y="5750777"/>
                </a:lnTo>
                <a:lnTo>
                  <a:pt x="0" y="5750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707805" y="8893288"/>
            <a:ext cx="893626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414 FEATURES → MRMR → 25 FEATURES (94% DIMENSIONALITY REDUCTION)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8149" y="2147148"/>
            <a:ext cx="11040323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414 FEATURES → HIGH DIMENSIONALITY → CURSE OF DIMENSIONALITY → OVERFITTING RISK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0216" y="1768077"/>
            <a:ext cx="3637731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WHY FEATURE SELECTION?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8149" y="2421468"/>
            <a:ext cx="11040323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MANY FEATURES ARE STATISTICALLY CORRELATED → REDUNDANT INFORMATION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8149" y="2695788"/>
            <a:ext cx="11040323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SOLUTION: SELECT A SMALL, DIVERSE, INFORMATIVE SUBSET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3197" y="3613166"/>
            <a:ext cx="11040323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AT EACH STEP, SELECTS FEATURE F THAT MAXIMIZES: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5264" y="3234095"/>
            <a:ext cx="3637731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mRMR CRITERION: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7101" y="3968700"/>
            <a:ext cx="5034819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Score(f) = I(f ; class) − (1/|S|) × Σ I(f ; s)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3197" y="4599800"/>
            <a:ext cx="6629201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I(f ; class) = mutual information between </a:t>
            </a:r>
          </a:p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                              feature and fault class → relevance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3197" y="5140820"/>
            <a:ext cx="7798414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I(f ; s) = mutual information between f and</a:t>
            </a:r>
          </a:p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                  already-selected features → redundancy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3197" y="5719939"/>
            <a:ext cx="5034819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 = set of already selected features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3197" y="4335005"/>
            <a:ext cx="889427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where: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5264" y="6573975"/>
            <a:ext cx="6496335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SELECTS ONE FEATURE AT A TIME UNTIL 25 ARE CHOSEN.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2364" y="6194904"/>
            <a:ext cx="324106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GREEDY ALGORITHM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3197" y="7551215"/>
            <a:ext cx="6788639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FEATURES THAT ARE MAXIMALLY INFORMATIVE ABOUT THE FAULT AND MAXIMALLY DIVERSE FROM EACH OTHER.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0297" y="7172144"/>
            <a:ext cx="324106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RESULT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07805" y="9220200"/>
            <a:ext cx="893626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SAVED AS </a:t>
            </a:r>
            <a:r>
              <a:rPr lang="en-US" sz="1800" b="1">
                <a:solidFill>
                  <a:srgbClr val="FF3131"/>
                </a:solidFill>
                <a:latin typeface="Garet Bold"/>
                <a:ea typeface="Garet Bold"/>
                <a:cs typeface="Garet Bold"/>
                <a:sym typeface="Garet Bold"/>
              </a:rPr>
              <a:t>FEATURE_SELECT.PKL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5264" y="8679610"/>
            <a:ext cx="7160661" cy="110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WPT CONTRIBUTES 15 OUT OF 25 SELECTED FEATURES (60%) — CONSISTENT WITH PAPER'S TABLES VIII &amp; IX. WPT'S MULTIRESOLUTION DECOMPOSITION OF BOTH HIGH AND LOW FREQUENCY SUB-BANDS MAKES IT THE MOST DISCRIMINATIVE TRANSFORM FOR FAULT DIAGNOSIS.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3197" y="8311310"/>
            <a:ext cx="324106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FINDING CALLOUT: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619391" y="9565950"/>
            <a:ext cx="27570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6351" y="617063"/>
            <a:ext cx="11224884" cy="848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99"/>
              </a:lnSpc>
              <a:spcBef>
                <a:spcPct val="0"/>
              </a:spcBef>
            </a:pPr>
            <a:r>
              <a:rPr lang="en-US" sz="6399" spc="-50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OAO SVM Classification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6351" y="1340423"/>
            <a:ext cx="672056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OAO</a:t>
            </a:r>
            <a:r>
              <a:rPr lang="en-US" sz="2000" b="1" u="none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 SVM with RBF Kernel</a:t>
            </a:r>
          </a:p>
        </p:txBody>
      </p:sp>
      <p:sp>
        <p:nvSpPr>
          <p:cNvPr id="5" name="Freeform 5"/>
          <p:cNvSpPr/>
          <p:nvPr/>
        </p:nvSpPr>
        <p:spPr>
          <a:xfrm>
            <a:off x="9990624" y="2078985"/>
            <a:ext cx="7679260" cy="5759445"/>
          </a:xfrm>
          <a:custGeom>
            <a:avLst/>
            <a:gdLst/>
            <a:ahLst/>
            <a:cxnLst/>
            <a:rect l="l" t="t" r="r" b="b"/>
            <a:pathLst>
              <a:path w="7679260" h="5759445">
                <a:moveTo>
                  <a:pt x="0" y="0"/>
                </a:moveTo>
                <a:lnTo>
                  <a:pt x="7679260" y="0"/>
                </a:lnTo>
                <a:lnTo>
                  <a:pt x="7679260" y="5759445"/>
                </a:lnTo>
                <a:lnTo>
                  <a:pt x="0" y="5759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26351" y="2525974"/>
            <a:ext cx="6863559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MAXIMIZES MARGIN BETWEEN CLASSES </a:t>
            </a:r>
          </a:p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→ STRONG GENERALIZATION (VC DIMENSION THEORY)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8418" y="2146904"/>
            <a:ext cx="3637731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WHY SVM?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6351" y="3071539"/>
            <a:ext cx="9224220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RBF KERNEL HANDLES NON-LINEAR BOUNDARIES BETWEEN 8 FAULT CLASSES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32572" y="3431584"/>
            <a:ext cx="3192842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K(X, X') = EXP(−Γ||X − X'||²)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8418" y="3796204"/>
            <a:ext cx="8505582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PROVEN EFFECTIVENESS IN MACHINERY FAULT DIAGNOSIS LITERATURE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6351" y="4939657"/>
            <a:ext cx="5612442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8 CLASSES → MULTICLASS STRATEGY NEEDED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8418" y="4561832"/>
            <a:ext cx="3637731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WHY OAO?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6351" y="5356852"/>
            <a:ext cx="5792094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OAO TRAINS ONE BINARY SVM PER CLASS PAIR: 8×7/2 = 28 BINARY CLASSIFIERS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6351" y="5988835"/>
            <a:ext cx="5007168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FINAL PREDICTION BY MAJORITY VOTING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8418" y="6407631"/>
            <a:ext cx="6361550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PREFERRED OVER OAA: OAA USES ALL 1800 SAMPLES PER CLASSIFIER → SLOWER, CLASS IMBALANCE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6351" y="7045502"/>
            <a:ext cx="7808276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OAO USES ~450 SAMPLES PER CLASSIFIER → FASTER, BALANCED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6351" y="8198451"/>
            <a:ext cx="3046665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C ∈ {0.1, 1, 10, 100, 1000}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418" y="7819380"/>
            <a:ext cx="3637731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GRID SEARCH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6351" y="8491820"/>
            <a:ext cx="4006773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Γ ∈ {0.0001, 0.001, 0.01, 0.1, 1}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6351" y="8756615"/>
            <a:ext cx="6676268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25 COMBINATIONS, EACH EVALUATED WITH 5-FOLD CV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6351" y="9126185"/>
            <a:ext cx="2896047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BEST: C = 1000, Γ = 0.01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619391" y="9565950"/>
            <a:ext cx="27570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90624" y="8302053"/>
            <a:ext cx="7886750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FEATURE_SELECT.PKL → 25 SELECTED FEATURE NAMES &amp; INDICES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90624" y="8595423"/>
            <a:ext cx="5886086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SCALER.PKL → STANDARDSCALER PARAMETERS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90624" y="8860217"/>
            <a:ext cx="6676268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99"/>
              </a:lnSpc>
            </a:pPr>
            <a:r>
              <a:rPr lang="en-US" sz="17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SVM_MODEL.PKL → 28 TRAINED BINARY CLASSIFIERS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69186"/>
            <a:ext cx="8478866" cy="848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 spc="-50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Experimental Results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360279" y="1778439"/>
            <a:ext cx="7436453" cy="6137610"/>
            <a:chOff x="0" y="0"/>
            <a:chExt cx="9915271" cy="8183479"/>
          </a:xfrm>
        </p:grpSpPr>
        <p:sp>
          <p:nvSpPr>
            <p:cNvPr id="5" name="AutoShape 5"/>
            <p:cNvSpPr/>
            <p:nvPr/>
          </p:nvSpPr>
          <p:spPr>
            <a:xfrm>
              <a:off x="0" y="673547"/>
              <a:ext cx="948044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CLASS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02147"/>
              <a:ext cx="16947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HEALTHY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13689" y="902147"/>
              <a:ext cx="1717035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225/225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30454" y="902147"/>
              <a:ext cx="1948846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PERFECT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0" y="1609113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837713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LIV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27843" y="1837713"/>
              <a:ext cx="2018705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225/225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34981" y="1837713"/>
              <a:ext cx="1502054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PERFECT</a:t>
              </a: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0" y="2544680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2773280"/>
              <a:ext cx="1513021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PISTON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27843" y="2773280"/>
              <a:ext cx="1495810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225/225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34981" y="2758710"/>
              <a:ext cx="1760029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PERFECT</a:t>
              </a: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0" y="3480246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3708846"/>
              <a:ext cx="16947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BEARING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27843" y="3708846"/>
              <a:ext cx="1495810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224/225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30454" y="3680964"/>
              <a:ext cx="2604691" cy="337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00"/>
                </a:lnSpc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 → FLYWHEEL</a:t>
              </a: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0" y="4415813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4644413"/>
              <a:ext cx="1878090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FLYWHEEL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27843" y="4644413"/>
              <a:ext cx="1495810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224/225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30454" y="4631713"/>
              <a:ext cx="4384817" cy="318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782"/>
                </a:lnSpc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 → BEARING</a:t>
              </a:r>
            </a:p>
          </p:txBody>
        </p:sp>
        <p:sp>
          <p:nvSpPr>
            <p:cNvPr id="26" name="AutoShape 26"/>
            <p:cNvSpPr/>
            <p:nvPr/>
          </p:nvSpPr>
          <p:spPr>
            <a:xfrm>
              <a:off x="0" y="5351380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5579980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LOV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27843" y="5579980"/>
              <a:ext cx="1495810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223/225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30454" y="5633955"/>
              <a:ext cx="3949996" cy="337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00"/>
                </a:lnSpc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1→BEARING, 1→HEALTHY</a:t>
              </a:r>
            </a:p>
          </p:txBody>
        </p:sp>
        <p:sp>
          <p:nvSpPr>
            <p:cNvPr id="30" name="AutoShape 30"/>
            <p:cNvSpPr/>
            <p:nvPr/>
          </p:nvSpPr>
          <p:spPr>
            <a:xfrm>
              <a:off x="0" y="6286946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6515546"/>
              <a:ext cx="1174029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NRV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27843" y="6515546"/>
              <a:ext cx="1495810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223/225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30454" y="6493321"/>
              <a:ext cx="3949996" cy="337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00"/>
                </a:lnSpc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1→LOV, 1→RIDERBELT</a:t>
              </a:r>
            </a:p>
          </p:txBody>
        </p:sp>
        <p:sp>
          <p:nvSpPr>
            <p:cNvPr id="34" name="AutoShape 34"/>
            <p:cNvSpPr/>
            <p:nvPr/>
          </p:nvSpPr>
          <p:spPr>
            <a:xfrm>
              <a:off x="0" y="7222513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7451113"/>
              <a:ext cx="2008472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RIDERBELT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27843" y="7451113"/>
              <a:ext cx="2018705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223/225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34981" y="7438413"/>
              <a:ext cx="3945469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60685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 → LIV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27843" y="-38100"/>
              <a:ext cx="1495810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RESULT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30454" y="-38100"/>
              <a:ext cx="4384817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NOTE</a:t>
              </a:r>
            </a:p>
          </p:txBody>
        </p:sp>
        <p:sp>
          <p:nvSpPr>
            <p:cNvPr id="40" name="AutoShape 40"/>
            <p:cNvSpPr/>
            <p:nvPr/>
          </p:nvSpPr>
          <p:spPr>
            <a:xfrm>
              <a:off x="0" y="8158079"/>
              <a:ext cx="9480449" cy="0"/>
            </a:xfrm>
            <a:prstGeom prst="line">
              <a:avLst/>
            </a:prstGeom>
            <a:ln w="50800" cap="flat">
              <a:solidFill>
                <a:srgbClr val="9D9993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1" name="AutoShape 41"/>
          <p:cNvSpPr/>
          <p:nvPr/>
        </p:nvSpPr>
        <p:spPr>
          <a:xfrm>
            <a:off x="1060733" y="2283599"/>
            <a:ext cx="808326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" name="TextBox 42"/>
          <p:cNvSpPr txBox="1"/>
          <p:nvPr/>
        </p:nvSpPr>
        <p:spPr>
          <a:xfrm>
            <a:off x="1060733" y="1740339"/>
            <a:ext cx="1115209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99.56%</a:t>
            </a: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821964" y="1765739"/>
            <a:ext cx="128777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8/1800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60733" y="2359482"/>
            <a:ext cx="1877942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FINAL ACCURACY (5-FOLD CV)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821964" y="2492832"/>
            <a:ext cx="2050509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MISCLASSIFIED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843165" y="2499817"/>
            <a:ext cx="108950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BEST C</a:t>
            </a:r>
          </a:p>
        </p:txBody>
      </p:sp>
      <p:sp>
        <p:nvSpPr>
          <p:cNvPr id="47" name="AutoShape 47"/>
          <p:cNvSpPr/>
          <p:nvPr/>
        </p:nvSpPr>
        <p:spPr>
          <a:xfrm>
            <a:off x="1060725" y="2993546"/>
            <a:ext cx="8083275" cy="0"/>
          </a:xfrm>
          <a:prstGeom prst="line">
            <a:avLst/>
          </a:prstGeom>
          <a:ln w="38100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" name="AutoShape 48"/>
          <p:cNvSpPr/>
          <p:nvPr/>
        </p:nvSpPr>
        <p:spPr>
          <a:xfrm>
            <a:off x="1028700" y="10066811"/>
            <a:ext cx="8115300" cy="0"/>
          </a:xfrm>
          <a:prstGeom prst="line">
            <a:avLst/>
          </a:prstGeom>
          <a:ln w="38100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" name="TextBox 49"/>
          <p:cNvSpPr txBox="1"/>
          <p:nvPr/>
        </p:nvSpPr>
        <p:spPr>
          <a:xfrm>
            <a:off x="5843165" y="1765739"/>
            <a:ext cx="128777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 = 1000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780397" y="1765739"/>
            <a:ext cx="128777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Γ = 0.01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780397" y="2492832"/>
            <a:ext cx="150945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BEST Γ</a:t>
            </a:r>
          </a:p>
        </p:txBody>
      </p:sp>
      <p:sp>
        <p:nvSpPr>
          <p:cNvPr id="52" name="Freeform 52"/>
          <p:cNvSpPr/>
          <p:nvPr/>
        </p:nvSpPr>
        <p:spPr>
          <a:xfrm>
            <a:off x="1028700" y="3486924"/>
            <a:ext cx="8115300" cy="6492240"/>
          </a:xfrm>
          <a:custGeom>
            <a:avLst/>
            <a:gdLst/>
            <a:ahLst/>
            <a:cxnLst/>
            <a:rect l="l" t="t" r="r" b="b"/>
            <a:pathLst>
              <a:path w="8115300" h="6492240">
                <a:moveTo>
                  <a:pt x="0" y="0"/>
                </a:moveTo>
                <a:lnTo>
                  <a:pt x="8115300" y="0"/>
                </a:lnTo>
                <a:lnTo>
                  <a:pt x="8115300" y="6492240"/>
                </a:lnTo>
                <a:lnTo>
                  <a:pt x="0" y="6492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10360278" y="8324216"/>
            <a:ext cx="2822321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INSIGHT CALLOUT: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072244" y="8751860"/>
            <a:ext cx="7148956" cy="116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1800" b="1" dirty="0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ALL MISCLASSIFICATIONS OCCUR BETWEEN ACOUSTICALLY SIMILAR FAULT TYPES — BEARING AND FLYWHEEL (BOTH ROTATING COMPONENT FAULTS), NRV AND LOV (BOTH AIR LEAKAGE FAULTS). THIS IS PHYSICALLY EXPECTED BEHAVIOUR, NOT A MODEL WEAKNESS.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47775"/>
            <a:ext cx="3947487" cy="6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Discussion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8231" y="2578541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Comparison with Paper</a:t>
            </a:r>
          </a:p>
        </p:txBody>
      </p:sp>
      <p:sp>
        <p:nvSpPr>
          <p:cNvPr id="5" name="AutoShape 5"/>
          <p:cNvSpPr/>
          <p:nvPr/>
        </p:nvSpPr>
        <p:spPr>
          <a:xfrm>
            <a:off x="798231" y="3763375"/>
            <a:ext cx="707990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798231" y="3220115"/>
            <a:ext cx="166281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PARAMETER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8231" y="3904663"/>
            <a:ext cx="2120882" cy="40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0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SIGNAL TRANSFORMS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97165" y="3925300"/>
            <a:ext cx="1287776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35729" y="3925300"/>
            <a:ext cx="52389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5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98231" y="4465050"/>
            <a:ext cx="7079907" cy="0"/>
          </a:xfrm>
          <a:prstGeom prst="line">
            <a:avLst/>
          </a:prstGeom>
          <a:ln w="38100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798231" y="4606338"/>
            <a:ext cx="1408568" cy="40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0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INITIAL FEATURES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07780" y="4626975"/>
            <a:ext cx="151402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414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39124" y="4626975"/>
            <a:ext cx="64742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414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98231" y="5166725"/>
            <a:ext cx="7079907" cy="0"/>
          </a:xfrm>
          <a:prstGeom prst="line">
            <a:avLst/>
          </a:prstGeom>
          <a:ln w="38100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798231" y="5309600"/>
            <a:ext cx="1271046" cy="40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0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SELECTED FEATURES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07780" y="5328650"/>
            <a:ext cx="112185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25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39124" y="5317722"/>
            <a:ext cx="64742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25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98231" y="5868400"/>
            <a:ext cx="7079907" cy="0"/>
          </a:xfrm>
          <a:prstGeom prst="line">
            <a:avLst/>
          </a:prstGeom>
          <a:ln w="38100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798231" y="6009687"/>
            <a:ext cx="1271046" cy="40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00"/>
              </a:lnSpc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FEATURE SELECTION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07780" y="6030325"/>
            <a:ext cx="112185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mRMR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39124" y="6068627"/>
            <a:ext cx="950363" cy="26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00"/>
              </a:lnSpc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mRMR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98231" y="6570075"/>
            <a:ext cx="7079907" cy="0"/>
          </a:xfrm>
          <a:prstGeom prst="line">
            <a:avLst/>
          </a:prstGeom>
          <a:ln w="38100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798231" y="6751050"/>
            <a:ext cx="1408568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CLASSIFIER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97165" y="6732000"/>
            <a:ext cx="196282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OAO SVM, RBF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35729" y="6785022"/>
            <a:ext cx="1904121" cy="253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80"/>
              </a:lnSpc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OAO SVM, RBF</a:t>
            </a:r>
          </a:p>
        </p:txBody>
      </p:sp>
      <p:sp>
        <p:nvSpPr>
          <p:cNvPr id="26" name="AutoShape 26"/>
          <p:cNvSpPr/>
          <p:nvPr/>
        </p:nvSpPr>
        <p:spPr>
          <a:xfrm flipV="1">
            <a:off x="798231" y="7271750"/>
            <a:ext cx="7079907" cy="0"/>
          </a:xfrm>
          <a:prstGeom prst="line">
            <a:avLst/>
          </a:prstGeom>
          <a:ln w="38100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TextBox 27"/>
          <p:cNvSpPr txBox="1"/>
          <p:nvPr/>
        </p:nvSpPr>
        <p:spPr>
          <a:xfrm>
            <a:off x="798231" y="7452725"/>
            <a:ext cx="1271046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ACCURACY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07780" y="7433675"/>
            <a:ext cx="142061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~99.50%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39124" y="7471775"/>
            <a:ext cx="1900726" cy="26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00"/>
              </a:lnSpc>
            </a:pPr>
            <a:r>
              <a:rPr lang="en-US" sz="20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99.56%</a:t>
            </a:r>
          </a:p>
        </p:txBody>
      </p:sp>
      <p:sp>
        <p:nvSpPr>
          <p:cNvPr id="30" name="AutoShape 30"/>
          <p:cNvSpPr/>
          <p:nvPr/>
        </p:nvSpPr>
        <p:spPr>
          <a:xfrm>
            <a:off x="798231" y="7973425"/>
            <a:ext cx="7079907" cy="0"/>
          </a:xfrm>
          <a:prstGeom prst="line">
            <a:avLst/>
          </a:prstGeom>
          <a:ln w="38100" cap="flat">
            <a:solidFill>
              <a:srgbClr val="9D999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31"/>
          <p:cNvSpPr txBox="1"/>
          <p:nvPr/>
        </p:nvSpPr>
        <p:spPr>
          <a:xfrm>
            <a:off x="3097165" y="3070890"/>
            <a:ext cx="286245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VERMA ET AL. </a:t>
            </a:r>
          </a:p>
          <a:p>
            <a:pPr marL="0" lvl="0" indent="0" algn="l">
              <a:lnSpc>
                <a:spcPts val="20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(2016)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435729" y="3070890"/>
            <a:ext cx="244240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OUR </a:t>
            </a:r>
          </a:p>
          <a:p>
            <a:pPr marL="0" lvl="0" indent="0" algn="l">
              <a:lnSpc>
                <a:spcPts val="20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IMPLEMENTATION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68229" y="2679271"/>
            <a:ext cx="24655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WPT DOMINANCE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68229" y="3047571"/>
            <a:ext cx="7691071" cy="276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 algn="l">
              <a:lnSpc>
                <a:spcPts val="1800"/>
              </a:lnSpc>
              <a:buFont typeface="Arial"/>
              <a:buChar char="•"/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WPT IS THE ONLY TRANSFORM THAT DECOMPOSES BOTH APPROXIMATION AND DETAIL COEFFICIENTS AT EVERY LEVEL</a:t>
            </a:r>
          </a:p>
          <a:p>
            <a:pPr algn="l">
              <a:lnSpc>
                <a:spcPts val="1800"/>
              </a:lnSpc>
            </a:pPr>
            <a:endParaRPr lang="en-US" sz="1800" b="1">
              <a:solidFill>
                <a:srgbClr val="60685E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388622" lvl="1" indent="-194311" algn="l">
              <a:lnSpc>
                <a:spcPts val="1800"/>
              </a:lnSpc>
              <a:buFont typeface="Arial"/>
              <a:buChar char="•"/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7 LEVELS → 254 SUB-BANDS → CAPTURES ENERGY AT VERY SPECIFIC NARROW FREQUENCY BANDS</a:t>
            </a:r>
          </a:p>
          <a:p>
            <a:pPr algn="l">
              <a:lnSpc>
                <a:spcPts val="1800"/>
              </a:lnSpc>
            </a:pPr>
            <a:endParaRPr lang="en-US" sz="1800" b="1">
              <a:solidFill>
                <a:srgbClr val="60685E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388622" lvl="1" indent="-194311" algn="l">
              <a:lnSpc>
                <a:spcPts val="1800"/>
              </a:lnSpc>
              <a:buFont typeface="Arial"/>
              <a:buChar char="•"/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DIFFERENT FAULTS AFFECT DIFFERENT SPECIFIC SUB-BANDS → WPT DETECTS THESE DIFFERENCES</a:t>
            </a:r>
          </a:p>
          <a:p>
            <a:pPr algn="l">
              <a:lnSpc>
                <a:spcPts val="1800"/>
              </a:lnSpc>
            </a:pPr>
            <a:endParaRPr lang="en-US" sz="1800" b="1">
              <a:solidFill>
                <a:srgbClr val="60685E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388622" lvl="1" indent="-194311" algn="l">
              <a:lnSpc>
                <a:spcPts val="1800"/>
              </a:lnSpc>
              <a:buFont typeface="Arial"/>
              <a:buChar char="•"/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DWT ONLY DECOMPOSES THE LOW-FREQUENCY BRANCH → MISSES HIGH-FREQUENCY FAULT SIGNATURES</a:t>
            </a:r>
          </a:p>
          <a:p>
            <a:pPr marL="0" lvl="0" indent="0" algn="l">
              <a:lnSpc>
                <a:spcPts val="1800"/>
              </a:lnSpc>
            </a:pPr>
            <a:endParaRPr lang="en-US" sz="1800" b="1">
              <a:solidFill>
                <a:srgbClr val="60685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568229" y="6374178"/>
            <a:ext cx="317465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COMPUTATIONAL NOTE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568229" y="6742478"/>
            <a:ext cx="7691071" cy="1617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 algn="l">
              <a:lnSpc>
                <a:spcPts val="1800"/>
              </a:lnSpc>
              <a:buFont typeface="Arial"/>
              <a:buChar char="•"/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WVD HAS O(N²) COMPLEXITY → RESAMPLED TO 8192 POINTS FROM 50,000</a:t>
            </a:r>
          </a:p>
          <a:p>
            <a:pPr marL="388622" lvl="1" indent="-194311" algn="l">
              <a:lnSpc>
                <a:spcPts val="1800"/>
              </a:lnSpc>
              <a:buFont typeface="Arial"/>
              <a:buChar char="•"/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DID NOT AFFECT ACCURACY - FEATURES ARE NORMALIZED ENERGY RATIOS, NOT RAW SAMPLE VALUES</a:t>
            </a:r>
          </a:p>
          <a:p>
            <a:pPr marL="388622" lvl="1" indent="-194311" algn="l">
              <a:lnSpc>
                <a:spcPts val="1800"/>
              </a:lnSpc>
              <a:buFont typeface="Arial"/>
              <a:buChar char="•"/>
            </a:pPr>
            <a:r>
              <a:rPr lang="en-US" sz="1800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PRACTICAL ENGINEERING DECISION DEMONSTRATING REAL WORLD DEPLOYMENT CONSIDERATIONS</a:t>
            </a:r>
          </a:p>
          <a:p>
            <a:pPr marL="0" lvl="0" indent="0" algn="l">
              <a:lnSpc>
                <a:spcPts val="1800"/>
              </a:lnSpc>
            </a:pPr>
            <a:endParaRPr lang="en-US" sz="1800" b="1">
              <a:solidFill>
                <a:srgbClr val="60685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96738"/>
            <a:ext cx="10635753" cy="71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91"/>
              </a:lnSpc>
              <a:spcBef>
                <a:spcPct val="0"/>
              </a:spcBef>
            </a:pPr>
            <a:r>
              <a:rPr lang="en-US" sz="6399" spc="-50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</a:t>
            </a:r>
            <a:r>
              <a:rPr lang="en-US" sz="6399" u="none" spc="-50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1001" y="3701855"/>
            <a:ext cx="16338299" cy="386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u="none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SUCCESSFULLY IMPLEMENTED THE COMPLETE OPERATIONAL FAULT DIAGNOSIS FRAMEWORK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        RECOMMENDED BY VERMA ET AL. (2016)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u="none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MULTI-DOMAIN FEATURE EXTRACTION ACROSS 5 TRANSFORMS PRODUCED A COMPREHENSIVE 414-DIMENSIONAL FEATURE VECTOR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u="none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MRMR REDUCED DIMENSIONALITY BY 94% (414 → 25 FEATURES) WHILE PRESERVING DIAGNOSTIC INFORMATION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u="none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WPT CONTRIBUTED 15/25 SELECTED FEATURES — CONFIRMING ITS SUPERIOR DISCRIMINATIVE CAPABILITY FOR COMPRESSOR FAULT DIAGNOSIS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u="none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OAO SVM WITH RBF KERNEL ACHIEVED 99.56% ACCURACY - MATCHING AND MARGINALLY EXCEEDING THE PAPER'S 99.50%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u="none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ONLY 8 OUT OF 1800 RECORDINGS MISCLASSIFIED — ALL BETWEEN PHYSICALLY SIMILAR FAULT CLASSES</a:t>
            </a: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 lang="en-US" sz="2000" b="1" u="none">
              <a:solidFill>
                <a:srgbClr val="60685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4343" y="8893175"/>
            <a:ext cx="17543657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IMPLEMENTED FRAMEWORK VALIDATES THAT COMBINING MULTI-DOMAIN SIGNAL PROCESSING WITH INTELLIGENT MACHINE LEARNING PROVIDES AN ACCURATE, EFFICIENT, AND PRACTICALLY DEPLOYABLE SOLUTION FOR INDUSTRIAL FAULT DIAGNOSIS.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42303" y="3398520"/>
            <a:ext cx="7203393" cy="375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4400" b="1" spc="-113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THANK YOU !!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93122" y="1066800"/>
            <a:ext cx="2590267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EE656 </a:t>
            </a:r>
          </a:p>
          <a:p>
            <a:pPr algn="l">
              <a:lnSpc>
                <a:spcPts val="2099"/>
              </a:lnSpc>
            </a:pPr>
            <a:r>
              <a:rPr lang="en-US" sz="2099" b="1">
                <a:solidFill>
                  <a:srgbClr val="60685E"/>
                </a:solidFill>
                <a:latin typeface="Garet Bold"/>
                <a:ea typeface="Garet Bold"/>
                <a:cs typeface="Garet Bold"/>
                <a:sym typeface="Garet Bold"/>
              </a:rPr>
              <a:t>COURSE PROJECT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47504"/>
            <a:ext cx="2526686" cy="1962393"/>
          </a:xfrm>
          <a:custGeom>
            <a:avLst/>
            <a:gdLst/>
            <a:ahLst/>
            <a:cxnLst/>
            <a:rect l="l" t="t" r="r" b="b"/>
            <a:pathLst>
              <a:path w="2526686" h="1962393">
                <a:moveTo>
                  <a:pt x="0" y="0"/>
                </a:moveTo>
                <a:lnTo>
                  <a:pt x="2526686" y="0"/>
                </a:lnTo>
                <a:lnTo>
                  <a:pt x="2526686" y="1962392"/>
                </a:lnTo>
                <a:lnTo>
                  <a:pt x="0" y="1962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34289" y="556937"/>
            <a:ext cx="376877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IIT KANPUR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1625</Words>
  <Application>Microsoft Office PowerPoint</Application>
  <PresentationFormat>Custom</PresentationFormat>
  <Paragraphs>305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Archivo Black</vt:lpstr>
      <vt:lpstr>Arial</vt:lpstr>
      <vt:lpstr>Calibri</vt:lpstr>
      <vt:lpstr>Garet</vt:lpstr>
      <vt:lpstr>Garet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EE656</dc:title>
  <dc:creator>SABEEH MUHAMMED</dc:creator>
  <cp:lastModifiedBy>SABEEH MUHAMMED</cp:lastModifiedBy>
  <cp:revision>2</cp:revision>
  <dcterms:created xsi:type="dcterms:W3CDTF">2006-08-16T00:00:00Z</dcterms:created>
  <dcterms:modified xsi:type="dcterms:W3CDTF">2026-06-28T15:42:32Z</dcterms:modified>
  <dc:identifier>DAHN1d0RChM</dc:identifier>
</cp:coreProperties>
</file>